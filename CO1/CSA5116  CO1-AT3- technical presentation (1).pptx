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Manrope Bold" pitchFamily="2" charset="0"/>
      <p:regular r:id="rId13"/>
    </p:embeddedFont>
    <p:embeddedFont>
      <p:font typeface="Inter" panose="02000503000000020004" pitchFamily="2" charset="0"/>
      <p:regular r:id="rId14"/>
    </p:embeddedFont>
    <p:embeddedFont>
      <p:font typeface="Inter Light" panose="02000503000000020004" pitchFamily="2" charset="0"/>
      <p:regular r:id="rId15"/>
    </p:embeddedFont>
    <p:embeddedFont>
      <p:font typeface="Manrope" pitchFamily="2"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font" Target="fonts/font1.fntdata"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font" Target="fonts/font4.fntdata"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font" Target="fonts/font3.fntdata"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2.fntdat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1536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GADI REDDY PRAKASH and my register number is 192365026 and my subject is CRYPTO GRAPHY and neyworking the course code is CSA5116 according to that addd the  front page in the slide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3.jpeg" /><Relationship Id="rId7" Type="http://schemas.openxmlformats.org/officeDocument/2006/relationships/image" Target="../media/image7.png" /><Relationship Id="rId2" Type="http://schemas.openxmlformats.org/officeDocument/2006/relationships/notesSlide" Target="../notesSlides/notesSlide3.xml" /><Relationship Id="rId1" Type="http://schemas.openxmlformats.org/officeDocument/2006/relationships/slideLayout" Target="../slideLayouts/slideLayout2.xml" /><Relationship Id="rId6" Type="http://schemas.openxmlformats.org/officeDocument/2006/relationships/image" Target="../media/image6.svg" /><Relationship Id="rId5" Type="http://schemas.openxmlformats.org/officeDocument/2006/relationships/image" Target="../media/image5.svg" /><Relationship Id="rId4" Type="http://schemas.openxmlformats.org/officeDocument/2006/relationships/image" Target="../media/image4.svg" /></Relationships>
</file>

<file path=ppt/slides/_rels/slide4.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notesSlide" Target="../notesSlides/notesSlide6.xml" /><Relationship Id="rId1" Type="http://schemas.openxmlformats.org/officeDocument/2006/relationships/slideLayout" Target="../slideLayouts/slideLayout2.xml" /><Relationship Id="rId4" Type="http://schemas.openxmlformats.org/officeDocument/2006/relationships/image" Target="../media/image11.jpeg" /></Relationships>
</file>

<file path=ppt/slides/_rels/slide7.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3.jpeg" /><Relationship Id="rId2" Type="http://schemas.openxmlformats.org/officeDocument/2006/relationships/notesSlide" Target="../notesSlides/notesSlide8.xml" /><Relationship Id="rId1" Type="http://schemas.openxmlformats.org/officeDocument/2006/relationships/slideLayout" Target="../slideLayouts/slideLayout2.xml" /><Relationship Id="rId4" Type="http://schemas.openxmlformats.org/officeDocument/2006/relationships/image" Target="../media/image14.png" /></Relationships>
</file>

<file path=ppt/slides/_rels/slide9.xml.rels><?xml version="1.0" encoding="UTF-8" standalone="yes"?>
<Relationships xmlns="http://schemas.openxmlformats.org/package/2006/relationships"><Relationship Id="rId3" Type="http://schemas.openxmlformats.org/officeDocument/2006/relationships/image" Target="../media/image15.jpeg" /><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6.jpe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1294135"/>
            <a:ext cx="8151763" cy="885974"/>
          </a:xfrm>
          <a:prstGeom prst="rect">
            <a:avLst/>
          </a:prstGeom>
          <a:noFill/>
          <a:ln/>
        </p:spPr>
        <p:txBody>
          <a:bodyPr wrap="square" lIns="0" tIns="0" rIns="0" bIns="0" rtlCol="0" anchor="t">
            <a:normAutofit/>
          </a:bodyPr>
          <a:lstStyle/>
          <a:p>
            <a:pPr marL="0" indent="0" algn="ctr">
              <a:lnSpc>
                <a:spcPct val="104000"/>
              </a:lnSpc>
              <a:buNone/>
            </a:pPr>
            <a:r>
              <a:rPr lang="en-US" sz="2750" dirty="0">
                <a:solidFill>
                  <a:srgbClr val="0C0D0F"/>
                </a:solidFill>
                <a:latin typeface="Inter" pitchFamily="34" charset="0"/>
                <a:ea typeface="Inter" pitchFamily="34" charset="-122"/>
                <a:cs typeface="Inter" pitchFamily="34" charset="-120"/>
              </a:rPr>
              <a:t>Security Attacks: Risks and Impact on the CIA Security Goals</a:t>
            </a:r>
            <a:endParaRPr lang="en-US" sz="2750" dirty="0"/>
          </a:p>
        </p:txBody>
      </p:sp>
      <p:sp>
        <p:nvSpPr>
          <p:cNvPr id="3" name="Text 1"/>
          <p:cNvSpPr/>
          <p:nvPr/>
        </p:nvSpPr>
        <p:spPr>
          <a:xfrm>
            <a:off x="496119" y="2463626"/>
            <a:ext cx="8151763" cy="1385664"/>
          </a:xfrm>
          <a:prstGeom prst="rect">
            <a:avLst/>
          </a:prstGeom>
          <a:noFill/>
          <a:ln/>
        </p:spPr>
        <p:txBody>
          <a:bodyPr wrap="square" lIns="0" tIns="0" rIns="0" bIns="0" rtlCol="0" anchor="t"/>
          <a:lstStyle/>
          <a:p>
            <a:pPr marL="0" indent="0" algn="ctr">
              <a:lnSpc>
                <a:spcPct val="133000"/>
              </a:lnSpc>
              <a:spcAft>
                <a:spcPts val="1250"/>
              </a:spcAft>
              <a:buNone/>
            </a:pPr>
            <a:r>
              <a:rPr lang="en-US" sz="1100" b="1" dirty="0">
                <a:solidFill>
                  <a:srgbClr val="55575A"/>
                </a:solidFill>
                <a:latin typeface="Manrope Bold" pitchFamily="34" charset="0"/>
                <a:ea typeface="Manrope Bold" pitchFamily="34" charset="-122"/>
                <a:cs typeface="Manrope Bold" pitchFamily="34" charset="-120"/>
              </a:rPr>
              <a:t>GADI REDDY PRAKASH</a:t>
            </a:r>
            <a:endParaRPr lang="en-US" sz="1100" dirty="0"/>
          </a:p>
          <a:p>
            <a:pPr marL="0" indent="0" algn="ctr">
              <a:lnSpc>
                <a:spcPct val="133000"/>
              </a:lnSpc>
              <a:spcAft>
                <a:spcPts val="1250"/>
              </a:spcAft>
              <a:buNone/>
            </a:pPr>
            <a:r>
              <a:rPr lang="en-US" sz="1100" dirty="0">
                <a:solidFill>
                  <a:srgbClr val="55575A"/>
                </a:solidFill>
                <a:latin typeface="Manrope" pitchFamily="34" charset="0"/>
                <a:ea typeface="Manrope" pitchFamily="34" charset="-122"/>
                <a:cs typeface="Manrope" pitchFamily="34" charset="-120"/>
              </a:rPr>
              <a:t>Register Number: 192365026</a:t>
            </a:r>
            <a:endParaRPr lang="en-US" sz="1100" dirty="0"/>
          </a:p>
          <a:p>
            <a:pPr marL="0" indent="0" algn="ctr">
              <a:lnSpc>
                <a:spcPct val="133000"/>
              </a:lnSpc>
              <a:spcAft>
                <a:spcPts val="1250"/>
              </a:spcAft>
              <a:buNone/>
            </a:pPr>
            <a:r>
              <a:rPr lang="en-US" sz="1100" dirty="0">
                <a:solidFill>
                  <a:srgbClr val="55575A"/>
                </a:solidFill>
                <a:latin typeface="Manrope" pitchFamily="34" charset="0"/>
                <a:ea typeface="Manrope" pitchFamily="34" charset="-122"/>
                <a:cs typeface="Manrope" pitchFamily="34" charset="-120"/>
              </a:rPr>
              <a:t>Subject: CRYPTOGRAPHY AND NETWORKING</a:t>
            </a:r>
            <a:endParaRPr lang="en-US" sz="1100" dirty="0"/>
          </a:p>
          <a:p>
            <a:pPr marL="0" indent="0" algn="ctr">
              <a:lnSpc>
                <a:spcPct val="133000"/>
              </a:lnSpc>
              <a:buNone/>
            </a:pPr>
            <a:r>
              <a:rPr lang="en-US" sz="1100" dirty="0">
                <a:solidFill>
                  <a:srgbClr val="55575A"/>
                </a:solidFill>
                <a:latin typeface="Manrope" pitchFamily="34" charset="0"/>
                <a:ea typeface="Manrope" pitchFamily="34" charset="-122"/>
                <a:cs typeface="Manrope" pitchFamily="34" charset="-120"/>
              </a:rPr>
              <a:t>Course Code: CSA5116</a:t>
            </a:r>
            <a:endParaRPr lang="en-US" sz="1100" dirty="0"/>
          </a:p>
        </p:txBody>
      </p:sp>
      <p:graphicFrame>
        <p:nvGraphicFramePr>
          <p:cNvPr id="4" name="Table 3">
            <a:extLst>
              <a:ext uri="{FF2B5EF4-FFF2-40B4-BE49-F238E27FC236}">
                <a16:creationId xmlns:a16="http://schemas.microsoft.com/office/drawing/2014/main" id="{61534752-C197-9F1B-54A1-D206D3E00DC0}"/>
              </a:ext>
            </a:extLst>
          </p:cNvPr>
          <p:cNvGraphicFramePr>
            <a:graphicFrameLocks noGrp="1"/>
          </p:cNvGraphicFramePr>
          <p:nvPr>
            <p:extLst>
              <p:ext uri="{D42A27DB-BD31-4B8C-83A1-F6EECF244321}">
                <p14:modId xmlns:p14="http://schemas.microsoft.com/office/powerpoint/2010/main" val="149466619"/>
              </p:ext>
            </p:extLst>
          </p:nvPr>
        </p:nvGraphicFramePr>
        <p:xfrm>
          <a:off x="7432431" y="4696753"/>
          <a:ext cx="1711569" cy="370840"/>
        </p:xfrm>
        <a:graphic>
          <a:graphicData uri="http://schemas.openxmlformats.org/drawingml/2006/table">
            <a:tbl>
              <a:tblPr firstRow="1" bandRow="1">
                <a:tableStyleId>{5C22544A-7EE6-4342-B048-85BDC9FD1C3A}</a:tableStyleId>
              </a:tblPr>
              <a:tblGrid>
                <a:gridCol w="1711569">
                  <a:extLst>
                    <a:ext uri="{9D8B030D-6E8A-4147-A177-3AD203B41FA5}">
                      <a16:colId xmlns:a16="http://schemas.microsoft.com/office/drawing/2014/main" val="3465553164"/>
                    </a:ext>
                  </a:extLst>
                </a:gridCol>
              </a:tblGrid>
              <a:tr h="370840">
                <a:tc>
                  <a:txBody>
                    <a:bodyPr/>
                    <a:lstStyle/>
                    <a:p>
                      <a:endParaRPr lang="en-IN" dirty="0"/>
                    </a:p>
                  </a:txBody>
                  <a:tcPr>
                    <a:solidFill>
                      <a:schemeClr val="bg1"/>
                    </a:solidFill>
                  </a:tcPr>
                </a:tc>
                <a:extLst>
                  <a:ext uri="{0D108BD9-81ED-4DB2-BD59-A6C34878D82A}">
                    <a16:rowId xmlns:a16="http://schemas.microsoft.com/office/drawing/2014/main" val="253963928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460748"/>
            <a:ext cx="4722763" cy="132896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0C0D0F"/>
                </a:solidFill>
                <a:latin typeface="Inter" pitchFamily="34" charset="0"/>
                <a:ea typeface="Inter" pitchFamily="34" charset="-122"/>
                <a:cs typeface="Inter" pitchFamily="34" charset="-120"/>
              </a:rPr>
              <a:t>Security Attacks: Risks and Impact on the CIA Security Goals</a:t>
            </a:r>
            <a:endParaRPr lang="en-US" sz="2750" dirty="0"/>
          </a:p>
        </p:txBody>
      </p:sp>
      <p:sp>
        <p:nvSpPr>
          <p:cNvPr id="4" name="Text 1"/>
          <p:cNvSpPr/>
          <p:nvPr/>
        </p:nvSpPr>
        <p:spPr>
          <a:xfrm>
            <a:off x="3925119" y="3002310"/>
            <a:ext cx="4722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Concise guide to threat evolution, real-world examples, and how attacks compromise Confidentiality, Integrity, and Availability — plus practical countermeasures for resilience.</a:t>
            </a:r>
            <a:endParaRPr lang="en-US" sz="1100" dirty="0"/>
          </a:p>
        </p:txBody>
      </p:sp>
      <p:graphicFrame>
        <p:nvGraphicFramePr>
          <p:cNvPr id="6" name="Table 5">
            <a:extLst>
              <a:ext uri="{FF2B5EF4-FFF2-40B4-BE49-F238E27FC236}">
                <a16:creationId xmlns:a16="http://schemas.microsoft.com/office/drawing/2014/main" id="{35522A78-910B-DC90-0928-4FCA9B1091AF}"/>
              </a:ext>
            </a:extLst>
          </p:cNvPr>
          <p:cNvGraphicFramePr>
            <a:graphicFrameLocks noGrp="1"/>
          </p:cNvGraphicFramePr>
          <p:nvPr>
            <p:extLst>
              <p:ext uri="{D42A27DB-BD31-4B8C-83A1-F6EECF244321}">
                <p14:modId xmlns:p14="http://schemas.microsoft.com/office/powerpoint/2010/main" val="617271704"/>
              </p:ext>
            </p:extLst>
          </p:nvPr>
        </p:nvGraphicFramePr>
        <p:xfrm>
          <a:off x="7432431" y="4696753"/>
          <a:ext cx="1711569" cy="370840"/>
        </p:xfrm>
        <a:graphic>
          <a:graphicData uri="http://schemas.openxmlformats.org/drawingml/2006/table">
            <a:tbl>
              <a:tblPr firstRow="1" bandRow="1">
                <a:tableStyleId>{5C22544A-7EE6-4342-B048-85BDC9FD1C3A}</a:tableStyleId>
              </a:tblPr>
              <a:tblGrid>
                <a:gridCol w="1711569">
                  <a:extLst>
                    <a:ext uri="{9D8B030D-6E8A-4147-A177-3AD203B41FA5}">
                      <a16:colId xmlns:a16="http://schemas.microsoft.com/office/drawing/2014/main" val="3465553164"/>
                    </a:ext>
                  </a:extLst>
                </a:gridCol>
              </a:tblGrid>
              <a:tr h="370840">
                <a:tc>
                  <a:txBody>
                    <a:bodyPr/>
                    <a:lstStyle/>
                    <a:p>
                      <a:endParaRPr lang="en-IN" dirty="0"/>
                    </a:p>
                  </a:txBody>
                  <a:tcPr>
                    <a:solidFill>
                      <a:schemeClr val="bg1"/>
                    </a:solidFill>
                  </a:tcPr>
                </a:tc>
                <a:extLst>
                  <a:ext uri="{0D108BD9-81ED-4DB2-BD59-A6C34878D82A}">
                    <a16:rowId xmlns:a16="http://schemas.microsoft.com/office/drawing/2014/main" val="253963928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423044"/>
            <a:ext cx="4722763" cy="678359"/>
          </a:xfrm>
          <a:prstGeom prst="rect">
            <a:avLst/>
          </a:prstGeom>
          <a:noFill/>
          <a:ln/>
        </p:spPr>
        <p:txBody>
          <a:bodyPr wrap="square" lIns="0" tIns="0" rIns="0" bIns="0" rtlCol="0" anchor="t">
            <a:normAutofit/>
          </a:bodyPr>
          <a:lstStyle/>
          <a:p>
            <a:pPr marL="0" indent="0" algn="l">
              <a:lnSpc>
                <a:spcPct val="104000"/>
              </a:lnSpc>
              <a:buNone/>
            </a:pPr>
            <a:r>
              <a:rPr lang="en-US" sz="2100" dirty="0">
                <a:solidFill>
                  <a:srgbClr val="0C0D0F"/>
                </a:solidFill>
                <a:latin typeface="Inter" pitchFamily="34" charset="0"/>
                <a:ea typeface="Inter" pitchFamily="34" charset="-122"/>
                <a:cs typeface="Inter" pitchFamily="34" charset="-120"/>
              </a:rPr>
              <a:t>The Foundations of Security: The CIA Triad</a:t>
            </a:r>
            <a:endParaRPr lang="en-US" sz="21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1226046"/>
            <a:ext cx="271314" cy="271314"/>
          </a:xfrm>
          <a:prstGeom prst="rect">
            <a:avLst/>
          </a:prstGeom>
        </p:spPr>
      </p:pic>
      <p:sp>
        <p:nvSpPr>
          <p:cNvPr id="5" name="Text 1"/>
          <p:cNvSpPr/>
          <p:nvPr/>
        </p:nvSpPr>
        <p:spPr>
          <a:xfrm>
            <a:off x="496119" y="1601167"/>
            <a:ext cx="4722763" cy="169515"/>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Inter" pitchFamily="34" charset="0"/>
                <a:ea typeface="Inter" pitchFamily="34" charset="-122"/>
                <a:cs typeface="Inter" pitchFamily="34" charset="-120"/>
              </a:rPr>
              <a:t>Confidentiality</a:t>
            </a:r>
            <a:endParaRPr lang="en-US" sz="1050" dirty="0"/>
          </a:p>
        </p:txBody>
      </p:sp>
      <p:sp>
        <p:nvSpPr>
          <p:cNvPr id="6" name="Text 2"/>
          <p:cNvSpPr/>
          <p:nvPr/>
        </p:nvSpPr>
        <p:spPr>
          <a:xfrm>
            <a:off x="496119" y="1820540"/>
            <a:ext cx="4722763" cy="306586"/>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55575A"/>
                </a:solidFill>
                <a:latin typeface="Manrope" pitchFamily="34" charset="0"/>
                <a:ea typeface="Manrope" pitchFamily="34" charset="-122"/>
                <a:cs typeface="Manrope" pitchFamily="34" charset="-120"/>
              </a:rPr>
              <a:t>Protect data from unauthorized disclosure — impacts: identity theft, loss of competitive advantage, regulatory fines.</a:t>
            </a:r>
            <a:endParaRPr lang="en-US" sz="8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293293"/>
            <a:ext cx="271314" cy="271314"/>
          </a:xfrm>
          <a:prstGeom prst="rect">
            <a:avLst/>
          </a:prstGeom>
        </p:spPr>
      </p:pic>
      <p:sp>
        <p:nvSpPr>
          <p:cNvPr id="8" name="Text 3"/>
          <p:cNvSpPr/>
          <p:nvPr/>
        </p:nvSpPr>
        <p:spPr>
          <a:xfrm>
            <a:off x="496119" y="2668414"/>
            <a:ext cx="4722763" cy="169515"/>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Inter" pitchFamily="34" charset="0"/>
                <a:ea typeface="Inter" pitchFamily="34" charset="-122"/>
                <a:cs typeface="Inter" pitchFamily="34" charset="-120"/>
              </a:rPr>
              <a:t>Integrity</a:t>
            </a:r>
            <a:endParaRPr lang="en-US" sz="1050" dirty="0"/>
          </a:p>
        </p:txBody>
      </p:sp>
      <p:sp>
        <p:nvSpPr>
          <p:cNvPr id="9" name="Text 4"/>
          <p:cNvSpPr/>
          <p:nvPr/>
        </p:nvSpPr>
        <p:spPr>
          <a:xfrm>
            <a:off x="496119" y="2887787"/>
            <a:ext cx="4722763" cy="306586"/>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55575A"/>
                </a:solidFill>
                <a:latin typeface="Manrope" pitchFamily="34" charset="0"/>
                <a:ea typeface="Manrope" pitchFamily="34" charset="-122"/>
                <a:cs typeface="Manrope" pitchFamily="34" charset="-120"/>
              </a:rPr>
              <a:t>Ensure data remains accurate and unaltered — impacts: fraudulent transactions, corrupted records, damaged trust.</a:t>
            </a:r>
            <a:endParaRPr lang="en-US" sz="8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6119" y="3360539"/>
            <a:ext cx="271314" cy="271314"/>
          </a:xfrm>
          <a:prstGeom prst="rect">
            <a:avLst/>
          </a:prstGeom>
        </p:spPr>
      </p:pic>
      <p:sp>
        <p:nvSpPr>
          <p:cNvPr id="11" name="Text 5"/>
          <p:cNvSpPr/>
          <p:nvPr/>
        </p:nvSpPr>
        <p:spPr>
          <a:xfrm>
            <a:off x="496119" y="3735660"/>
            <a:ext cx="4722763" cy="169515"/>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Inter" pitchFamily="34" charset="0"/>
                <a:ea typeface="Inter" pitchFamily="34" charset="-122"/>
                <a:cs typeface="Inter" pitchFamily="34" charset="-120"/>
              </a:rPr>
              <a:t>Availability</a:t>
            </a:r>
            <a:endParaRPr lang="en-US" sz="1050" dirty="0"/>
          </a:p>
        </p:txBody>
      </p:sp>
      <p:sp>
        <p:nvSpPr>
          <p:cNvPr id="12" name="Text 6"/>
          <p:cNvSpPr/>
          <p:nvPr/>
        </p:nvSpPr>
        <p:spPr>
          <a:xfrm>
            <a:off x="496119" y="3955033"/>
            <a:ext cx="4722763" cy="306586"/>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55575A"/>
                </a:solidFill>
                <a:latin typeface="Manrope" pitchFamily="34" charset="0"/>
                <a:ea typeface="Manrope" pitchFamily="34" charset="-122"/>
                <a:cs typeface="Manrope" pitchFamily="34" charset="-120"/>
              </a:rPr>
              <a:t>Keep systems and data accessible to authorized users — impacts: downtime costs, operational disruption, safety risks.</a:t>
            </a:r>
            <a:endParaRPr lang="en-US" sz="850" dirty="0"/>
          </a:p>
        </p:txBody>
      </p:sp>
      <p:sp>
        <p:nvSpPr>
          <p:cNvPr id="13" name="Shape 7"/>
          <p:cNvSpPr/>
          <p:nvPr/>
        </p:nvSpPr>
        <p:spPr>
          <a:xfrm>
            <a:off x="496119" y="4355083"/>
            <a:ext cx="4722763" cy="365299"/>
          </a:xfrm>
          <a:prstGeom prst="roundRect">
            <a:avLst>
              <a:gd name="adj" fmla="val 26742"/>
            </a:avLst>
          </a:prstGeom>
          <a:solidFill>
            <a:srgbClr val="FFD7CC"/>
          </a:solidFill>
          <a:ln/>
        </p:spPr>
      </p:sp>
      <p:pic>
        <p:nvPicPr>
          <p:cNvPr id="14" name="Image 4" descr="preencoded.png"/>
          <p:cNvPicPr>
            <a:picLocks noChangeAspect="1"/>
          </p:cNvPicPr>
          <p:nvPr/>
        </p:nvPicPr>
        <p:blipFill>
          <a:blip r:embed="rId7"/>
          <a:stretch>
            <a:fillRect/>
          </a:stretch>
        </p:blipFill>
        <p:spPr>
          <a:xfrm>
            <a:off x="604614" y="4500488"/>
            <a:ext cx="135657" cy="108496"/>
          </a:xfrm>
          <a:prstGeom prst="rect">
            <a:avLst/>
          </a:prstGeom>
        </p:spPr>
      </p:pic>
      <p:sp>
        <p:nvSpPr>
          <p:cNvPr id="15" name="Text 8"/>
          <p:cNvSpPr/>
          <p:nvPr/>
        </p:nvSpPr>
        <p:spPr>
          <a:xfrm>
            <a:off x="848767" y="4465216"/>
            <a:ext cx="4718819" cy="153293"/>
          </a:xfrm>
          <a:prstGeom prst="rect">
            <a:avLst/>
          </a:prstGeom>
          <a:noFill/>
          <a:ln/>
        </p:spPr>
        <p:txBody>
          <a:bodyPr wrap="none" lIns="0" tIns="0" rIns="0" bIns="0" rtlCol="0" anchor="t"/>
          <a:lstStyle/>
          <a:p>
            <a:pPr marL="0" indent="0" algn="l">
              <a:lnSpc>
                <a:spcPct val="118000"/>
              </a:lnSpc>
              <a:buNone/>
            </a:pPr>
            <a:r>
              <a:rPr lang="en-US" sz="850" dirty="0">
                <a:solidFill>
                  <a:srgbClr val="000000"/>
                </a:solidFill>
                <a:latin typeface="Manrope" pitchFamily="34" charset="0"/>
                <a:ea typeface="Manrope" pitchFamily="34" charset="-122"/>
                <a:cs typeface="Manrope" pitchFamily="34" charset="-120"/>
              </a:rPr>
              <a:t>Theme accent: #FF7047 used across visuals for emphasis.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607963"/>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0C0D0F"/>
                </a:solidFill>
                <a:latin typeface="Inter" pitchFamily="34" charset="0"/>
                <a:ea typeface="Inter" pitchFamily="34" charset="-122"/>
                <a:cs typeface="Inter" pitchFamily="34" charset="-120"/>
              </a:rPr>
              <a:t>The Early Era: 'WarGames' Mindset (1960s–1980s)</a:t>
            </a:r>
            <a:endParaRPr lang="en-US" sz="2750" dirty="0"/>
          </a:p>
        </p:txBody>
      </p:sp>
      <p:sp>
        <p:nvSpPr>
          <p:cNvPr id="4" name="Text 1"/>
          <p:cNvSpPr/>
          <p:nvPr/>
        </p:nvSpPr>
        <p:spPr>
          <a:xfrm>
            <a:off x="3925119" y="1706538"/>
            <a:ext cx="4722763"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Networks and remote terminals emerged; culture glamorized exploration. Early attacks targeted weak physical access and modems — war dialing found open systems, enabling unauthorized logins and reconnaissance.</a:t>
            </a:r>
            <a:endParaRPr lang="en-US" sz="1100" dirty="0"/>
          </a:p>
        </p:txBody>
      </p:sp>
      <p:sp>
        <p:nvSpPr>
          <p:cNvPr id="5" name="Shape 2"/>
          <p:cNvSpPr/>
          <p:nvPr/>
        </p:nvSpPr>
        <p:spPr>
          <a:xfrm>
            <a:off x="3925119" y="2773263"/>
            <a:ext cx="2290465" cy="1762199"/>
          </a:xfrm>
          <a:prstGeom prst="roundRect">
            <a:avLst>
              <a:gd name="adj" fmla="val 7240"/>
            </a:avLst>
          </a:prstGeom>
          <a:solidFill>
            <a:srgbClr val="FFFFFF"/>
          </a:solidFill>
          <a:ln w="19050">
            <a:solidFill>
              <a:srgbClr val="FF7047"/>
            </a:solidFill>
            <a:prstDash val="solid"/>
          </a:ln>
        </p:spPr>
      </p:sp>
      <p:sp>
        <p:nvSpPr>
          <p:cNvPr id="6" name="Text 3"/>
          <p:cNvSpPr/>
          <p:nvPr/>
        </p:nvSpPr>
        <p:spPr>
          <a:xfrm>
            <a:off x="4085927" y="2934072"/>
            <a:ext cx="1968847" cy="221456"/>
          </a:xfrm>
          <a:prstGeom prst="rect">
            <a:avLst/>
          </a:prstGeom>
          <a:noFill/>
          <a:ln/>
        </p:spPr>
        <p:txBody>
          <a:bodyPr wrap="none" lIns="0" tIns="0" rIns="0" bIns="0" rtlCol="0" anchor="t"/>
          <a:lstStyle/>
          <a:p>
            <a:pPr marL="0" indent="0" algn="l">
              <a:lnSpc>
                <a:spcPct val="104000"/>
              </a:lnSpc>
              <a:buNone/>
            </a:pPr>
            <a:r>
              <a:rPr lang="en-US" sz="1350" dirty="0">
                <a:solidFill>
                  <a:srgbClr val="55575A"/>
                </a:solidFill>
                <a:latin typeface="Inter" pitchFamily="34" charset="0"/>
                <a:ea typeface="Inter" pitchFamily="34" charset="-122"/>
                <a:cs typeface="Inter" pitchFamily="34" charset="-120"/>
              </a:rPr>
              <a:t>Typical Risks</a:t>
            </a:r>
            <a:endParaRPr lang="en-US" sz="1350" dirty="0"/>
          </a:p>
        </p:txBody>
      </p:sp>
      <p:sp>
        <p:nvSpPr>
          <p:cNvPr id="7" name="Text 4"/>
          <p:cNvSpPr/>
          <p:nvPr/>
        </p:nvSpPr>
        <p:spPr>
          <a:xfrm>
            <a:off x="4085927" y="3240584"/>
            <a:ext cx="1968847"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Open modems, default passwords, unpatched systems</a:t>
            </a:r>
            <a:endParaRPr lang="en-US" sz="1100" dirty="0"/>
          </a:p>
        </p:txBody>
      </p:sp>
      <p:sp>
        <p:nvSpPr>
          <p:cNvPr id="8" name="Shape 5"/>
          <p:cNvSpPr/>
          <p:nvPr/>
        </p:nvSpPr>
        <p:spPr>
          <a:xfrm>
            <a:off x="6357342" y="2773263"/>
            <a:ext cx="2290539" cy="1762199"/>
          </a:xfrm>
          <a:prstGeom prst="roundRect">
            <a:avLst>
              <a:gd name="adj" fmla="val 7240"/>
            </a:avLst>
          </a:prstGeom>
          <a:solidFill>
            <a:srgbClr val="FFFFFF"/>
          </a:solidFill>
          <a:ln w="19050">
            <a:solidFill>
              <a:srgbClr val="FF7047"/>
            </a:solidFill>
            <a:prstDash val="solid"/>
          </a:ln>
        </p:spPr>
      </p:sp>
      <p:sp>
        <p:nvSpPr>
          <p:cNvPr id="9" name="Text 6"/>
          <p:cNvSpPr/>
          <p:nvPr/>
        </p:nvSpPr>
        <p:spPr>
          <a:xfrm>
            <a:off x="6518151" y="2934072"/>
            <a:ext cx="1968922" cy="221456"/>
          </a:xfrm>
          <a:prstGeom prst="rect">
            <a:avLst/>
          </a:prstGeom>
          <a:noFill/>
          <a:ln/>
        </p:spPr>
        <p:txBody>
          <a:bodyPr wrap="none" lIns="0" tIns="0" rIns="0" bIns="0" rtlCol="0" anchor="t"/>
          <a:lstStyle/>
          <a:p>
            <a:pPr marL="0" indent="0" algn="l">
              <a:lnSpc>
                <a:spcPct val="104000"/>
              </a:lnSpc>
              <a:buNone/>
            </a:pPr>
            <a:r>
              <a:rPr lang="en-US" sz="1350" dirty="0">
                <a:solidFill>
                  <a:srgbClr val="55575A"/>
                </a:solidFill>
                <a:latin typeface="Inter" pitchFamily="34" charset="0"/>
                <a:ea typeface="Inter" pitchFamily="34" charset="-122"/>
                <a:cs typeface="Inter" pitchFamily="34" charset="-120"/>
              </a:rPr>
              <a:t>Impact on CIA</a:t>
            </a:r>
            <a:endParaRPr lang="en-US" sz="1350" dirty="0"/>
          </a:p>
        </p:txBody>
      </p:sp>
      <p:sp>
        <p:nvSpPr>
          <p:cNvPr id="10" name="Text 7"/>
          <p:cNvSpPr/>
          <p:nvPr/>
        </p:nvSpPr>
        <p:spPr>
          <a:xfrm>
            <a:off x="6518151" y="3240584"/>
            <a:ext cx="1968922"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Confidentiality breached by snooping; integrity often intact but at risk; availability minimally affected but vulnerable.</a:t>
            </a:r>
            <a:endParaRPr lang="en-US" sz="1100" dirty="0"/>
          </a:p>
        </p:txBody>
      </p:sp>
      <p:graphicFrame>
        <p:nvGraphicFramePr>
          <p:cNvPr id="12" name="Table 11">
            <a:extLst>
              <a:ext uri="{FF2B5EF4-FFF2-40B4-BE49-F238E27FC236}">
                <a16:creationId xmlns:a16="http://schemas.microsoft.com/office/drawing/2014/main" id="{BA7C05D2-5807-3AA7-1976-49D8542E0EB2}"/>
              </a:ext>
            </a:extLst>
          </p:cNvPr>
          <p:cNvGraphicFramePr>
            <a:graphicFrameLocks noGrp="1"/>
          </p:cNvGraphicFramePr>
          <p:nvPr>
            <p:extLst>
              <p:ext uri="{D42A27DB-BD31-4B8C-83A1-F6EECF244321}">
                <p14:modId xmlns:p14="http://schemas.microsoft.com/office/powerpoint/2010/main" val="617271704"/>
              </p:ext>
            </p:extLst>
          </p:nvPr>
        </p:nvGraphicFramePr>
        <p:xfrm>
          <a:off x="7432431" y="4696753"/>
          <a:ext cx="1711569" cy="370840"/>
        </p:xfrm>
        <a:graphic>
          <a:graphicData uri="http://schemas.openxmlformats.org/drawingml/2006/table">
            <a:tbl>
              <a:tblPr firstRow="1" bandRow="1">
                <a:tableStyleId>{5C22544A-7EE6-4342-B048-85BDC9FD1C3A}</a:tableStyleId>
              </a:tblPr>
              <a:tblGrid>
                <a:gridCol w="1711569">
                  <a:extLst>
                    <a:ext uri="{9D8B030D-6E8A-4147-A177-3AD203B41FA5}">
                      <a16:colId xmlns:a16="http://schemas.microsoft.com/office/drawing/2014/main" val="3465553164"/>
                    </a:ext>
                  </a:extLst>
                </a:gridCol>
              </a:tblGrid>
              <a:tr h="370840">
                <a:tc>
                  <a:txBody>
                    <a:bodyPr/>
                    <a:lstStyle/>
                    <a:p>
                      <a:endParaRPr lang="en-IN" dirty="0"/>
                    </a:p>
                  </a:txBody>
                  <a:tcPr>
                    <a:solidFill>
                      <a:schemeClr val="bg1"/>
                    </a:solidFill>
                  </a:tcPr>
                </a:tc>
                <a:extLst>
                  <a:ext uri="{0D108BD9-81ED-4DB2-BD59-A6C34878D82A}">
                    <a16:rowId xmlns:a16="http://schemas.microsoft.com/office/drawing/2014/main" val="253963928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1706687"/>
            <a:ext cx="3053135" cy="1730053"/>
          </a:xfrm>
          <a:prstGeom prst="rect">
            <a:avLst/>
          </a:prstGeom>
        </p:spPr>
      </p:pic>
      <p:sp>
        <p:nvSpPr>
          <p:cNvPr id="3" name="Text 0"/>
          <p:cNvSpPr/>
          <p:nvPr/>
        </p:nvSpPr>
        <p:spPr>
          <a:xfrm>
            <a:off x="3899892" y="1019621"/>
            <a:ext cx="4752677"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0C0D0F"/>
                </a:solidFill>
                <a:latin typeface="Inter" pitchFamily="34" charset="0"/>
                <a:ea typeface="Inter" pitchFamily="34" charset="-122"/>
                <a:cs typeface="Inter" pitchFamily="34" charset="-120"/>
              </a:rPr>
              <a:t>The Hacker Underground (1990s)</a:t>
            </a:r>
            <a:endParaRPr lang="en-US" sz="2750" dirty="0"/>
          </a:p>
        </p:txBody>
      </p:sp>
      <p:sp>
        <p:nvSpPr>
          <p:cNvPr id="4" name="Text 1"/>
          <p:cNvSpPr/>
          <p:nvPr/>
        </p:nvSpPr>
        <p:spPr>
          <a:xfrm>
            <a:off x="3899892" y="2047354"/>
            <a:ext cx="4752677" cy="1034802"/>
          </a:xfrm>
          <a:prstGeom prst="rect">
            <a:avLst/>
          </a:prstGeom>
          <a:noFill/>
          <a:ln/>
        </p:spPr>
        <p:txBody>
          <a:bodyPr wrap="square" lIns="0" tIns="0" rIns="0" bIns="0" rtlCol="0" anchor="t">
            <a:normAutofit/>
          </a:bodyPr>
          <a:lstStyle/>
          <a:p>
            <a:pPr marL="0" indent="0" algn="l">
              <a:lnSpc>
                <a:spcPct val="133000"/>
              </a:lnSpc>
              <a:spcAft>
                <a:spcPts val="1000"/>
              </a:spcAft>
              <a:buNone/>
            </a:pPr>
            <a:r>
              <a:rPr lang="en-US" sz="1100" dirty="0">
                <a:solidFill>
                  <a:srgbClr val="55575A"/>
                </a:solidFill>
                <a:latin typeface="Manrope" pitchFamily="34" charset="0"/>
                <a:ea typeface="Manrope" pitchFamily="34" charset="-122"/>
                <a:cs typeface="Manrope" pitchFamily="34" charset="-120"/>
              </a:rPr>
              <a:t>Communities and publications (e.g., 2600) shared techniques. Law enforcement responded — Project Sun Devil (1990) led to major raids and the first computer crime prosecutions.</a:t>
            </a:r>
            <a:endParaRPr lang="en-US" sz="1100" dirty="0"/>
          </a:p>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by using BBS(Bulletin Board System)</a:t>
            </a:r>
            <a:endParaRPr lang="en-US" sz="1100" dirty="0"/>
          </a:p>
        </p:txBody>
      </p:sp>
      <p:sp>
        <p:nvSpPr>
          <p:cNvPr id="5" name="Text 2"/>
          <p:cNvSpPr/>
          <p:nvPr/>
        </p:nvSpPr>
        <p:spPr>
          <a:xfrm>
            <a:off x="3899892" y="3209702"/>
            <a:ext cx="4752677" cy="100637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55575A"/>
                </a:solidFill>
                <a:latin typeface="Manrope" pitchFamily="34" charset="0"/>
                <a:ea typeface="Manrope" pitchFamily="34" charset="-122"/>
                <a:cs typeface="Manrope" pitchFamily="34" charset="-120"/>
              </a:rPr>
              <a:t>Focus: perimeter penetration, social engineering, simple data snooping</a:t>
            </a:r>
            <a:endParaRPr lang="en-US" sz="1100" dirty="0"/>
          </a:p>
          <a:p>
            <a:pPr marL="223520" indent="-223520" algn="l">
              <a:lnSpc>
                <a:spcPct val="133000"/>
              </a:lnSpc>
              <a:buSzPct val="100000"/>
              <a:buChar char="•"/>
            </a:pPr>
            <a:r>
              <a:rPr lang="en-US" sz="1100" dirty="0">
                <a:solidFill>
                  <a:srgbClr val="55575A"/>
                </a:solidFill>
                <a:latin typeface="Manrope" pitchFamily="34" charset="0"/>
                <a:ea typeface="Manrope" pitchFamily="34" charset="-122"/>
                <a:cs typeface="Manrope" pitchFamily="34" charset="-120"/>
              </a:rPr>
              <a:t>Real example: Early data exfiltration via dial-up and bulletin boards</a:t>
            </a:r>
            <a:endParaRPr lang="en-US" sz="1100" dirty="0"/>
          </a:p>
          <a:p>
            <a:pPr marL="223520" indent="-223520" algn="l">
              <a:lnSpc>
                <a:spcPct val="133000"/>
              </a:lnSpc>
              <a:buSzPct val="100000"/>
              <a:buChar char="•"/>
            </a:pPr>
            <a:r>
              <a:rPr lang="en-US" sz="1100" dirty="0">
                <a:solidFill>
                  <a:srgbClr val="55575A"/>
                </a:solidFill>
                <a:latin typeface="Manrope" pitchFamily="34" charset="0"/>
                <a:ea typeface="Manrope" pitchFamily="34" charset="-122"/>
                <a:cs typeface="Manrope" pitchFamily="34" charset="-120"/>
              </a:rPr>
              <a:t>Impact: Greater attention to legal frameworks and incident response</a:t>
            </a:r>
            <a:endParaRPr lang="en-US" sz="1100" dirty="0"/>
          </a:p>
        </p:txBody>
      </p:sp>
      <p:graphicFrame>
        <p:nvGraphicFramePr>
          <p:cNvPr id="7" name="Table 6">
            <a:extLst>
              <a:ext uri="{FF2B5EF4-FFF2-40B4-BE49-F238E27FC236}">
                <a16:creationId xmlns:a16="http://schemas.microsoft.com/office/drawing/2014/main" id="{40AAA8C2-920D-3ED8-4E72-9B84E7B350A0}"/>
              </a:ext>
            </a:extLst>
          </p:cNvPr>
          <p:cNvGraphicFramePr>
            <a:graphicFrameLocks noGrp="1"/>
          </p:cNvGraphicFramePr>
          <p:nvPr>
            <p:extLst>
              <p:ext uri="{D42A27DB-BD31-4B8C-83A1-F6EECF244321}">
                <p14:modId xmlns:p14="http://schemas.microsoft.com/office/powerpoint/2010/main" val="617271704"/>
              </p:ext>
            </p:extLst>
          </p:nvPr>
        </p:nvGraphicFramePr>
        <p:xfrm>
          <a:off x="7432431" y="4696753"/>
          <a:ext cx="1711569" cy="370840"/>
        </p:xfrm>
        <a:graphic>
          <a:graphicData uri="http://schemas.openxmlformats.org/drawingml/2006/table">
            <a:tbl>
              <a:tblPr firstRow="1" bandRow="1">
                <a:tableStyleId>{5C22544A-7EE6-4342-B048-85BDC9FD1C3A}</a:tableStyleId>
              </a:tblPr>
              <a:tblGrid>
                <a:gridCol w="1711569">
                  <a:extLst>
                    <a:ext uri="{9D8B030D-6E8A-4147-A177-3AD203B41FA5}">
                      <a16:colId xmlns:a16="http://schemas.microsoft.com/office/drawing/2014/main" val="3465553164"/>
                    </a:ext>
                  </a:extLst>
                </a:gridCol>
              </a:tblGrid>
              <a:tr h="370840">
                <a:tc>
                  <a:txBody>
                    <a:bodyPr/>
                    <a:lstStyle/>
                    <a:p>
                      <a:endParaRPr lang="en-IN" dirty="0"/>
                    </a:p>
                  </a:txBody>
                  <a:tcPr>
                    <a:solidFill>
                      <a:schemeClr val="bg1"/>
                    </a:solidFill>
                  </a:tcPr>
                </a:tc>
                <a:extLst>
                  <a:ext uri="{0D108BD9-81ED-4DB2-BD59-A6C34878D82A}">
                    <a16:rowId xmlns:a16="http://schemas.microsoft.com/office/drawing/2014/main" val="253963928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556096"/>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0C0D0F"/>
                </a:solidFill>
                <a:latin typeface="Inter" pitchFamily="34" charset="0"/>
                <a:ea typeface="Inter" pitchFamily="34" charset="-122"/>
                <a:cs typeface="Inter" pitchFamily="34" charset="-120"/>
              </a:rPr>
              <a:t>The Rise of Organized Cybercrime (2000s)</a:t>
            </a:r>
            <a:endParaRPr lang="en-US" sz="2750" dirty="0"/>
          </a:p>
        </p:txBody>
      </p:sp>
      <p:sp>
        <p:nvSpPr>
          <p:cNvPr id="3" name="Text 1"/>
          <p:cNvSpPr/>
          <p:nvPr/>
        </p:nvSpPr>
        <p:spPr>
          <a:xfrm>
            <a:off x="496119" y="1282601"/>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Attacks became profit-driven: botnets, rented access, and credential-stealing trojans. Attackers monetized compromised machines via spam, click fraud, and banking malware.</a:t>
            </a:r>
            <a:endParaRPr lang="en-US" sz="1100" dirty="0"/>
          </a:p>
        </p:txBody>
      </p:sp>
      <p:pic>
        <p:nvPicPr>
          <p:cNvPr id="4" name="Image 0" descr="preencoded.png"/>
          <p:cNvPicPr>
            <a:picLocks noChangeAspect="1"/>
          </p:cNvPicPr>
          <p:nvPr/>
        </p:nvPicPr>
        <p:blipFill>
          <a:blip r:embed="rId3"/>
          <a:stretch>
            <a:fillRect/>
          </a:stretch>
        </p:blipFill>
        <p:spPr>
          <a:xfrm>
            <a:off x="496119" y="1895698"/>
            <a:ext cx="1754386" cy="1754386"/>
          </a:xfrm>
          <a:prstGeom prst="rect">
            <a:avLst/>
          </a:prstGeom>
        </p:spPr>
      </p:pic>
      <p:sp>
        <p:nvSpPr>
          <p:cNvPr id="5" name="Text 2"/>
          <p:cNvSpPr/>
          <p:nvPr/>
        </p:nvSpPr>
        <p:spPr>
          <a:xfrm>
            <a:off x="496119" y="3827264"/>
            <a:ext cx="3987254" cy="221456"/>
          </a:xfrm>
          <a:prstGeom prst="rect">
            <a:avLst/>
          </a:prstGeom>
          <a:noFill/>
          <a:ln/>
        </p:spPr>
        <p:txBody>
          <a:bodyPr wrap="none" lIns="0" tIns="0" rIns="0" bIns="0" rtlCol="0" anchor="t"/>
          <a:lstStyle/>
          <a:p>
            <a:pPr marL="0" indent="0" algn="l">
              <a:lnSpc>
                <a:spcPct val="104000"/>
              </a:lnSpc>
              <a:buNone/>
            </a:pPr>
            <a:r>
              <a:rPr lang="en-US" sz="1350" dirty="0">
                <a:solidFill>
                  <a:srgbClr val="55575A"/>
                </a:solidFill>
                <a:latin typeface="Inter" pitchFamily="34" charset="0"/>
                <a:ea typeface="Inter" pitchFamily="34" charset="-122"/>
                <a:cs typeface="Inter" pitchFamily="34" charset="-120"/>
              </a:rPr>
              <a:t>SilentBanker and Banking Trojans</a:t>
            </a:r>
            <a:endParaRPr lang="en-US" sz="1350" dirty="0"/>
          </a:p>
        </p:txBody>
      </p:sp>
      <p:sp>
        <p:nvSpPr>
          <p:cNvPr id="6" name="Text 3"/>
          <p:cNvSpPr/>
          <p:nvPr/>
        </p:nvSpPr>
        <p:spPr>
          <a:xfrm>
            <a:off x="496119" y="4133776"/>
            <a:ext cx="3987254"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Focused on stealing online banking credentials — severe confidentiality loss and financial integrity breaches.</a:t>
            </a:r>
            <a:endParaRPr lang="en-US" sz="1100" dirty="0"/>
          </a:p>
        </p:txBody>
      </p:sp>
      <p:pic>
        <p:nvPicPr>
          <p:cNvPr id="7" name="Image 1" descr="preencoded.png"/>
          <p:cNvPicPr>
            <a:picLocks noChangeAspect="1"/>
          </p:cNvPicPr>
          <p:nvPr/>
        </p:nvPicPr>
        <p:blipFill>
          <a:blip r:embed="rId4"/>
          <a:stretch>
            <a:fillRect/>
          </a:stretch>
        </p:blipFill>
        <p:spPr>
          <a:xfrm>
            <a:off x="4660553" y="1895698"/>
            <a:ext cx="1754386" cy="1754386"/>
          </a:xfrm>
          <a:prstGeom prst="rect">
            <a:avLst/>
          </a:prstGeom>
        </p:spPr>
      </p:pic>
      <p:sp>
        <p:nvSpPr>
          <p:cNvPr id="8" name="Text 4"/>
          <p:cNvSpPr/>
          <p:nvPr/>
        </p:nvSpPr>
        <p:spPr>
          <a:xfrm>
            <a:off x="4660553" y="3827264"/>
            <a:ext cx="3987329" cy="221456"/>
          </a:xfrm>
          <a:prstGeom prst="rect">
            <a:avLst/>
          </a:prstGeom>
          <a:noFill/>
          <a:ln/>
        </p:spPr>
        <p:txBody>
          <a:bodyPr wrap="none" lIns="0" tIns="0" rIns="0" bIns="0" rtlCol="0" anchor="t"/>
          <a:lstStyle/>
          <a:p>
            <a:pPr marL="0" indent="0" algn="l">
              <a:lnSpc>
                <a:spcPct val="104000"/>
              </a:lnSpc>
              <a:buNone/>
            </a:pPr>
            <a:r>
              <a:rPr lang="en-US" sz="1350" dirty="0">
                <a:solidFill>
                  <a:srgbClr val="55575A"/>
                </a:solidFill>
                <a:latin typeface="Inter" pitchFamily="34" charset="0"/>
                <a:ea typeface="Inter" pitchFamily="34" charset="-122"/>
                <a:cs typeface="Inter" pitchFamily="34" charset="-120"/>
              </a:rPr>
              <a:t>Botnets &amp; Spam Fleets</a:t>
            </a:r>
            <a:endParaRPr lang="en-US" sz="1350" dirty="0"/>
          </a:p>
        </p:txBody>
      </p:sp>
      <p:sp>
        <p:nvSpPr>
          <p:cNvPr id="9" name="Text 5"/>
          <p:cNvSpPr/>
          <p:nvPr/>
        </p:nvSpPr>
        <p:spPr>
          <a:xfrm>
            <a:off x="4660553" y="4133776"/>
            <a:ext cx="3987329"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Compromised hosts used for mass mail, DDoS, and ad fraud — availability and reputation harmed.</a:t>
            </a:r>
            <a:endParaRPr lang="en-US" sz="1100" dirty="0"/>
          </a:p>
        </p:txBody>
      </p:sp>
      <p:graphicFrame>
        <p:nvGraphicFramePr>
          <p:cNvPr id="11" name="Table 10">
            <a:extLst>
              <a:ext uri="{FF2B5EF4-FFF2-40B4-BE49-F238E27FC236}">
                <a16:creationId xmlns:a16="http://schemas.microsoft.com/office/drawing/2014/main" id="{B5C80EE0-3164-68EC-FC10-D18B331BE9EC}"/>
              </a:ext>
            </a:extLst>
          </p:cNvPr>
          <p:cNvGraphicFramePr>
            <a:graphicFrameLocks noGrp="1"/>
          </p:cNvGraphicFramePr>
          <p:nvPr>
            <p:extLst>
              <p:ext uri="{D42A27DB-BD31-4B8C-83A1-F6EECF244321}">
                <p14:modId xmlns:p14="http://schemas.microsoft.com/office/powerpoint/2010/main" val="617271704"/>
              </p:ext>
            </p:extLst>
          </p:nvPr>
        </p:nvGraphicFramePr>
        <p:xfrm>
          <a:off x="7432431" y="4696753"/>
          <a:ext cx="1711569" cy="370840"/>
        </p:xfrm>
        <a:graphic>
          <a:graphicData uri="http://schemas.openxmlformats.org/drawingml/2006/table">
            <a:tbl>
              <a:tblPr firstRow="1" bandRow="1">
                <a:tableStyleId>{5C22544A-7EE6-4342-B048-85BDC9FD1C3A}</a:tableStyleId>
              </a:tblPr>
              <a:tblGrid>
                <a:gridCol w="1711569">
                  <a:extLst>
                    <a:ext uri="{9D8B030D-6E8A-4147-A177-3AD203B41FA5}">
                      <a16:colId xmlns:a16="http://schemas.microsoft.com/office/drawing/2014/main" val="3465553164"/>
                    </a:ext>
                  </a:extLst>
                </a:gridCol>
              </a:tblGrid>
              <a:tr h="370840">
                <a:tc>
                  <a:txBody>
                    <a:bodyPr/>
                    <a:lstStyle/>
                    <a:p>
                      <a:endParaRPr lang="en-IN" dirty="0"/>
                    </a:p>
                  </a:txBody>
                  <a:tcPr>
                    <a:solidFill>
                      <a:schemeClr val="bg1"/>
                    </a:solidFill>
                  </a:tcPr>
                </a:tc>
                <a:extLst>
                  <a:ext uri="{0D108BD9-81ED-4DB2-BD59-A6C34878D82A}">
                    <a16:rowId xmlns:a16="http://schemas.microsoft.com/office/drawing/2014/main" val="253963928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1465883"/>
            <a:ext cx="3902943" cy="2211660"/>
          </a:xfrm>
          <a:prstGeom prst="rect">
            <a:avLst/>
          </a:prstGeom>
        </p:spPr>
      </p:pic>
      <p:sp>
        <p:nvSpPr>
          <p:cNvPr id="3" name="Text 0"/>
          <p:cNvSpPr/>
          <p:nvPr/>
        </p:nvSpPr>
        <p:spPr>
          <a:xfrm>
            <a:off x="4749701" y="861864"/>
            <a:ext cx="3902943" cy="132896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0C0D0F"/>
                </a:solidFill>
                <a:latin typeface="Inter" pitchFamily="34" charset="0"/>
                <a:ea typeface="Inter" pitchFamily="34" charset="-122"/>
                <a:cs typeface="Inter" pitchFamily="34" charset="-120"/>
              </a:rPr>
              <a:t>Targeted Breaches &amp; Advanced Attacks (2010–2015)</a:t>
            </a:r>
            <a:endParaRPr lang="en-US" sz="2750" dirty="0"/>
          </a:p>
        </p:txBody>
      </p:sp>
      <p:sp>
        <p:nvSpPr>
          <p:cNvPr id="4" name="Text 1"/>
          <p:cNvSpPr/>
          <p:nvPr/>
        </p:nvSpPr>
        <p:spPr>
          <a:xfrm>
            <a:off x="4749701" y="2332583"/>
            <a:ext cx="390294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Attackers shifted to long-term, stealthy intrusions targeting enterprises and critical infrastructure.</a:t>
            </a:r>
            <a:endParaRPr lang="en-US" sz="1100" dirty="0"/>
          </a:p>
        </p:txBody>
      </p:sp>
      <p:sp>
        <p:nvSpPr>
          <p:cNvPr id="5" name="Text 2"/>
          <p:cNvSpPr/>
          <p:nvPr/>
        </p:nvSpPr>
        <p:spPr>
          <a:xfrm>
            <a:off x="4749701" y="2913757"/>
            <a:ext cx="3902943" cy="1460004"/>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55575A"/>
                </a:solidFill>
                <a:latin typeface="Manrope" pitchFamily="34" charset="0"/>
                <a:ea typeface="Manrope" pitchFamily="34" charset="-122"/>
                <a:cs typeface="Manrope" pitchFamily="34" charset="-120"/>
              </a:rPr>
              <a:t>2013 Target breach — 140M customers' data exposed via vendor-access compromise (Confidentiality &amp; Integrity)</a:t>
            </a:r>
            <a:endParaRPr lang="en-US" sz="1100" dirty="0"/>
          </a:p>
          <a:p>
            <a:pPr marL="223520" indent="-223520" algn="l">
              <a:lnSpc>
                <a:spcPct val="133000"/>
              </a:lnSpc>
              <a:buSzPct val="100000"/>
              <a:buChar char="•"/>
            </a:pPr>
            <a:r>
              <a:rPr lang="en-US" sz="1100" dirty="0">
                <a:solidFill>
                  <a:srgbClr val="55575A"/>
                </a:solidFill>
                <a:latin typeface="Manrope" pitchFamily="34" charset="0"/>
                <a:ea typeface="Manrope" pitchFamily="34" charset="-122"/>
                <a:cs typeface="Manrope" pitchFamily="34" charset="-120"/>
              </a:rPr>
              <a:t>Stuxnet — weaponized malware sabotaging industrial controllers (Integrity + Availability of physical systems)</a:t>
            </a:r>
            <a:endParaRPr lang="en-US" sz="1100" dirty="0"/>
          </a:p>
          <a:p>
            <a:pPr marL="223520" indent="-223520" algn="l">
              <a:lnSpc>
                <a:spcPct val="133000"/>
              </a:lnSpc>
              <a:buSzPct val="100000"/>
              <a:buChar char="•"/>
            </a:pPr>
            <a:r>
              <a:rPr lang="en-US" sz="1100" dirty="0">
                <a:solidFill>
                  <a:srgbClr val="55575A"/>
                </a:solidFill>
                <a:latin typeface="Manrope" pitchFamily="34" charset="0"/>
                <a:ea typeface="Manrope" pitchFamily="34" charset="-122"/>
                <a:cs typeface="Manrope" pitchFamily="34" charset="-120"/>
              </a:rPr>
              <a:t>Impact: Focus on supply chain security and lateral movement detection</a:t>
            </a:r>
            <a:endParaRPr lang="en-US" sz="1100" dirty="0"/>
          </a:p>
        </p:txBody>
      </p:sp>
      <p:graphicFrame>
        <p:nvGraphicFramePr>
          <p:cNvPr id="7" name="Table 6">
            <a:extLst>
              <a:ext uri="{FF2B5EF4-FFF2-40B4-BE49-F238E27FC236}">
                <a16:creationId xmlns:a16="http://schemas.microsoft.com/office/drawing/2014/main" id="{E646FC84-6B4E-9192-F24D-C347512EE1A2}"/>
              </a:ext>
            </a:extLst>
          </p:cNvPr>
          <p:cNvGraphicFramePr>
            <a:graphicFrameLocks noGrp="1"/>
          </p:cNvGraphicFramePr>
          <p:nvPr>
            <p:extLst>
              <p:ext uri="{D42A27DB-BD31-4B8C-83A1-F6EECF244321}">
                <p14:modId xmlns:p14="http://schemas.microsoft.com/office/powerpoint/2010/main" val="1649108273"/>
              </p:ext>
            </p:extLst>
          </p:nvPr>
        </p:nvGraphicFramePr>
        <p:xfrm>
          <a:off x="7432431" y="4703787"/>
          <a:ext cx="1711569" cy="370840"/>
        </p:xfrm>
        <a:graphic>
          <a:graphicData uri="http://schemas.openxmlformats.org/drawingml/2006/table">
            <a:tbl>
              <a:tblPr firstRow="1" bandRow="1">
                <a:tableStyleId>{5C22544A-7EE6-4342-B048-85BDC9FD1C3A}</a:tableStyleId>
              </a:tblPr>
              <a:tblGrid>
                <a:gridCol w="1711569">
                  <a:extLst>
                    <a:ext uri="{9D8B030D-6E8A-4147-A177-3AD203B41FA5}">
                      <a16:colId xmlns:a16="http://schemas.microsoft.com/office/drawing/2014/main" val="3465553164"/>
                    </a:ext>
                  </a:extLst>
                </a:gridCol>
              </a:tblGrid>
              <a:tr h="370840">
                <a:tc>
                  <a:txBody>
                    <a:bodyPr/>
                    <a:lstStyle/>
                    <a:p>
                      <a:endParaRPr lang="en-IN" dirty="0"/>
                    </a:p>
                  </a:txBody>
                  <a:tcPr>
                    <a:solidFill>
                      <a:schemeClr val="bg1"/>
                    </a:solidFill>
                  </a:tcPr>
                </a:tc>
                <a:extLst>
                  <a:ext uri="{0D108BD9-81ED-4DB2-BD59-A6C34878D82A}">
                    <a16:rowId xmlns:a16="http://schemas.microsoft.com/office/drawing/2014/main" val="253963928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2481114"/>
            <a:ext cx="2167979" cy="181198"/>
          </a:xfrm>
          <a:prstGeom prst="rect">
            <a:avLst/>
          </a:prstGeom>
          <a:noFill/>
          <a:ln/>
        </p:spPr>
        <p:txBody>
          <a:bodyPr wrap="none" lIns="0" tIns="0" rIns="0" bIns="0" rtlCol="0" anchor="t"/>
          <a:lstStyle/>
          <a:p>
            <a:pPr marL="0" indent="0" algn="l">
              <a:lnSpc>
                <a:spcPct val="124000"/>
              </a:lnSpc>
              <a:buNone/>
            </a:pPr>
            <a:endParaRPr lang="en-US" sz="950" dirty="0"/>
          </a:p>
        </p:txBody>
      </p:sp>
      <p:sp>
        <p:nvSpPr>
          <p:cNvPr id="4" name="Text 1"/>
          <p:cNvSpPr/>
          <p:nvPr/>
        </p:nvSpPr>
        <p:spPr>
          <a:xfrm>
            <a:off x="5937870" y="496788"/>
            <a:ext cx="2714774" cy="1142107"/>
          </a:xfrm>
          <a:prstGeom prst="rect">
            <a:avLst/>
          </a:prstGeom>
          <a:noFill/>
          <a:ln/>
        </p:spPr>
        <p:txBody>
          <a:bodyPr wrap="square" lIns="0" tIns="0" rIns="0" bIns="0" rtlCol="0" anchor="t">
            <a:normAutofit/>
          </a:bodyPr>
          <a:lstStyle/>
          <a:p>
            <a:pPr marL="0" indent="0" algn="l">
              <a:lnSpc>
                <a:spcPct val="104000"/>
              </a:lnSpc>
              <a:buNone/>
            </a:pPr>
            <a:r>
              <a:rPr lang="en-US" sz="2350" dirty="0">
                <a:solidFill>
                  <a:srgbClr val="0C0D0F"/>
                </a:solidFill>
                <a:latin typeface="Inter" pitchFamily="34" charset="0"/>
                <a:ea typeface="Inter" pitchFamily="34" charset="-122"/>
                <a:cs typeface="Inter" pitchFamily="34" charset="-120"/>
              </a:rPr>
              <a:t>The Insider Threat: Hidden &amp; High-Risk</a:t>
            </a:r>
            <a:endParaRPr lang="en-US" sz="2350" dirty="0"/>
          </a:p>
        </p:txBody>
      </p:sp>
      <p:sp>
        <p:nvSpPr>
          <p:cNvPr id="5" name="Text 2"/>
          <p:cNvSpPr/>
          <p:nvPr/>
        </p:nvSpPr>
        <p:spPr>
          <a:xfrm>
            <a:off x="5937870" y="1743521"/>
            <a:ext cx="2714774" cy="543595"/>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55575A"/>
                </a:solidFill>
                <a:latin typeface="Manrope" pitchFamily="34" charset="0"/>
                <a:ea typeface="Manrope" pitchFamily="34" charset="-122"/>
                <a:cs typeface="Manrope" pitchFamily="34" charset="-120"/>
              </a:rPr>
              <a:t>Insiders exploit knowledge and access — often bypassing external defenses. Motivations include sabotage, IP theft, and financial gain.</a:t>
            </a:r>
            <a:endParaRPr lang="en-US" sz="950" dirty="0"/>
          </a:p>
        </p:txBody>
      </p:sp>
      <p:sp>
        <p:nvSpPr>
          <p:cNvPr id="6" name="Text 3"/>
          <p:cNvSpPr/>
          <p:nvPr/>
        </p:nvSpPr>
        <p:spPr>
          <a:xfrm>
            <a:off x="5937870" y="2381324"/>
            <a:ext cx="2714774" cy="1522809"/>
          </a:xfrm>
          <a:prstGeom prst="rect">
            <a:avLst/>
          </a:prstGeom>
          <a:noFill/>
          <a:ln/>
        </p:spPr>
        <p:txBody>
          <a:bodyPr wrap="square" lIns="0" tIns="0" rIns="0" bIns="0" rtlCol="0" anchor="t">
            <a:normAutofit/>
          </a:bodyPr>
          <a:lstStyle/>
          <a:p>
            <a:pPr marL="193040" indent="-193040" algn="l">
              <a:lnSpc>
                <a:spcPct val="124000"/>
              </a:lnSpc>
              <a:buSzPct val="100000"/>
              <a:buChar char="•"/>
            </a:pPr>
            <a:r>
              <a:rPr lang="en-US" sz="950" dirty="0">
                <a:solidFill>
                  <a:srgbClr val="55575A"/>
                </a:solidFill>
                <a:latin typeface="Manrope" pitchFamily="34" charset="0"/>
                <a:ea typeface="Manrope" pitchFamily="34" charset="-122"/>
                <a:cs typeface="Manrope" pitchFamily="34" charset="-120"/>
              </a:rPr>
              <a:t>Statistic context: a large proportion of financial cybercrimes involve insiders</a:t>
            </a:r>
            <a:endParaRPr lang="en-US" sz="950" dirty="0"/>
          </a:p>
          <a:p>
            <a:pPr marL="193040" indent="-193040" algn="l">
              <a:lnSpc>
                <a:spcPct val="124000"/>
              </a:lnSpc>
              <a:buSzPct val="100000"/>
              <a:buChar char="•"/>
            </a:pPr>
            <a:r>
              <a:rPr lang="en-US" sz="950" dirty="0">
                <a:solidFill>
                  <a:srgbClr val="55575A"/>
                </a:solidFill>
                <a:latin typeface="Manrope" pitchFamily="34" charset="0"/>
                <a:ea typeface="Manrope" pitchFamily="34" charset="-122"/>
                <a:cs typeface="Manrope" pitchFamily="34" charset="-120"/>
              </a:rPr>
              <a:t>Real scenarios: disgruntled employee copying customer lists; contractor misusing privileged credentials</a:t>
            </a:r>
            <a:endParaRPr lang="en-US" sz="950" dirty="0"/>
          </a:p>
          <a:p>
            <a:pPr marL="193040" indent="-193040" algn="l">
              <a:lnSpc>
                <a:spcPct val="124000"/>
              </a:lnSpc>
              <a:buSzPct val="100000"/>
              <a:buChar char="•"/>
            </a:pPr>
            <a:r>
              <a:rPr lang="en-US" sz="950" dirty="0">
                <a:solidFill>
                  <a:srgbClr val="55575A"/>
                </a:solidFill>
                <a:latin typeface="Manrope" pitchFamily="34" charset="0"/>
                <a:ea typeface="Manrope" pitchFamily="34" charset="-122"/>
                <a:cs typeface="Manrope" pitchFamily="34" charset="-120"/>
              </a:rPr>
              <a:t>Impact: Simultaneous breaches of Confidentiality, Integrity, and Availability depending on intent</a:t>
            </a:r>
            <a:endParaRPr lang="en-US" sz="950" dirty="0"/>
          </a:p>
        </p:txBody>
      </p:sp>
      <p:sp>
        <p:nvSpPr>
          <p:cNvPr id="7" name="Shape 4"/>
          <p:cNvSpPr/>
          <p:nvPr/>
        </p:nvSpPr>
        <p:spPr>
          <a:xfrm>
            <a:off x="5937870" y="4021857"/>
            <a:ext cx="2714774" cy="611684"/>
          </a:xfrm>
          <a:prstGeom prst="roundRect">
            <a:avLst>
              <a:gd name="adj" fmla="val 17926"/>
            </a:avLst>
          </a:prstGeom>
          <a:solidFill>
            <a:srgbClr val="B6D6FC"/>
          </a:solidFill>
          <a:ln/>
        </p:spPr>
      </p:sp>
      <p:pic>
        <p:nvPicPr>
          <p:cNvPr id="8" name="Image 1" descr="preencoded.png"/>
          <p:cNvPicPr>
            <a:picLocks noChangeAspect="1"/>
          </p:cNvPicPr>
          <p:nvPr/>
        </p:nvPicPr>
        <p:blipFill>
          <a:blip r:embed="rId4"/>
          <a:stretch>
            <a:fillRect/>
          </a:stretch>
        </p:blipFill>
        <p:spPr>
          <a:xfrm>
            <a:off x="6059686" y="4200823"/>
            <a:ext cx="152251" cy="121816"/>
          </a:xfrm>
          <a:prstGeom prst="rect">
            <a:avLst/>
          </a:prstGeom>
        </p:spPr>
      </p:pic>
      <p:sp>
        <p:nvSpPr>
          <p:cNvPr id="9" name="Text 5"/>
          <p:cNvSpPr/>
          <p:nvPr/>
        </p:nvSpPr>
        <p:spPr>
          <a:xfrm>
            <a:off x="6333753" y="4146500"/>
            <a:ext cx="2197075" cy="362396"/>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000000"/>
                </a:solidFill>
                <a:latin typeface="Manrope" pitchFamily="34" charset="0"/>
                <a:ea typeface="Manrope" pitchFamily="34" charset="-122"/>
                <a:cs typeface="Manrope" pitchFamily="34" charset="-120"/>
              </a:rPr>
              <a:t>Mitigation requires monitoring, least privilege, and behavioral analytics.</a:t>
            </a:r>
            <a:endParaRPr lang="en-US" sz="950" dirty="0"/>
          </a:p>
        </p:txBody>
      </p:sp>
      <p:graphicFrame>
        <p:nvGraphicFramePr>
          <p:cNvPr id="11" name="Table 10">
            <a:extLst>
              <a:ext uri="{FF2B5EF4-FFF2-40B4-BE49-F238E27FC236}">
                <a16:creationId xmlns:a16="http://schemas.microsoft.com/office/drawing/2014/main" id="{CDCB6DE8-F67A-4D13-6115-53F0D5C1A6B7}"/>
              </a:ext>
            </a:extLst>
          </p:cNvPr>
          <p:cNvGraphicFramePr>
            <a:graphicFrameLocks noGrp="1"/>
          </p:cNvGraphicFramePr>
          <p:nvPr>
            <p:extLst>
              <p:ext uri="{D42A27DB-BD31-4B8C-83A1-F6EECF244321}">
                <p14:modId xmlns:p14="http://schemas.microsoft.com/office/powerpoint/2010/main" val="617271704"/>
              </p:ext>
            </p:extLst>
          </p:nvPr>
        </p:nvGraphicFramePr>
        <p:xfrm>
          <a:off x="7432431" y="4696753"/>
          <a:ext cx="1711569" cy="370840"/>
        </p:xfrm>
        <a:graphic>
          <a:graphicData uri="http://schemas.openxmlformats.org/drawingml/2006/table">
            <a:tbl>
              <a:tblPr firstRow="1" bandRow="1">
                <a:tableStyleId>{5C22544A-7EE6-4342-B048-85BDC9FD1C3A}</a:tableStyleId>
              </a:tblPr>
              <a:tblGrid>
                <a:gridCol w="1711569">
                  <a:extLst>
                    <a:ext uri="{9D8B030D-6E8A-4147-A177-3AD203B41FA5}">
                      <a16:colId xmlns:a16="http://schemas.microsoft.com/office/drawing/2014/main" val="3465553164"/>
                    </a:ext>
                  </a:extLst>
                </a:gridCol>
              </a:tblGrid>
              <a:tr h="370840">
                <a:tc>
                  <a:txBody>
                    <a:bodyPr/>
                    <a:lstStyle/>
                    <a:p>
                      <a:endParaRPr lang="en-IN" dirty="0"/>
                    </a:p>
                  </a:txBody>
                  <a:tcPr>
                    <a:solidFill>
                      <a:schemeClr val="bg1"/>
                    </a:solidFill>
                  </a:tcPr>
                </a:tc>
                <a:extLst>
                  <a:ext uri="{0D108BD9-81ED-4DB2-BD59-A6C34878D82A}">
                    <a16:rowId xmlns:a16="http://schemas.microsoft.com/office/drawing/2014/main" val="253963928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418133"/>
            <a:ext cx="4722763" cy="830610"/>
          </a:xfrm>
          <a:prstGeom prst="rect">
            <a:avLst/>
          </a:prstGeom>
          <a:noFill/>
          <a:ln/>
        </p:spPr>
        <p:txBody>
          <a:bodyPr wrap="square" lIns="0" tIns="0" rIns="0" bIns="0" rtlCol="0" anchor="t">
            <a:normAutofit/>
          </a:bodyPr>
          <a:lstStyle/>
          <a:p>
            <a:pPr marL="0" indent="0" algn="l">
              <a:lnSpc>
                <a:spcPct val="104000"/>
              </a:lnSpc>
              <a:buNone/>
            </a:pPr>
            <a:r>
              <a:rPr lang="en-US" sz="2600" dirty="0">
                <a:solidFill>
                  <a:srgbClr val="0C0D0F"/>
                </a:solidFill>
                <a:latin typeface="Inter" pitchFamily="34" charset="0"/>
                <a:ea typeface="Inter" pitchFamily="34" charset="-122"/>
                <a:cs typeface="Inter" pitchFamily="34" charset="-120"/>
              </a:rPr>
              <a:t>Strategic Countermeasures: Building Resilience</a:t>
            </a:r>
            <a:endParaRPr lang="en-US" sz="2600" dirty="0"/>
          </a:p>
        </p:txBody>
      </p:sp>
      <p:sp>
        <p:nvSpPr>
          <p:cNvPr id="4" name="Text 1"/>
          <p:cNvSpPr/>
          <p:nvPr/>
        </p:nvSpPr>
        <p:spPr>
          <a:xfrm>
            <a:off x="496119" y="1435596"/>
            <a:ext cx="265807" cy="166092"/>
          </a:xfrm>
          <a:prstGeom prst="rect">
            <a:avLst/>
          </a:prstGeom>
          <a:noFill/>
          <a:ln/>
        </p:spPr>
        <p:txBody>
          <a:bodyPr wrap="none" lIns="0" tIns="0" rIns="0" bIns="0" rtlCol="0" anchor="ctr"/>
          <a:lstStyle/>
          <a:p>
            <a:pPr marL="0" indent="0" algn="l">
              <a:lnSpc>
                <a:spcPct val="100000"/>
              </a:lnSpc>
              <a:buNone/>
            </a:pPr>
            <a:r>
              <a:rPr lang="en-US" sz="1000" dirty="0">
                <a:solidFill>
                  <a:srgbClr val="55575A"/>
                </a:solidFill>
                <a:latin typeface="Inter Light" pitchFamily="34" charset="0"/>
                <a:ea typeface="Inter Light" pitchFamily="34" charset="-122"/>
                <a:cs typeface="Inter Light" pitchFamily="34" charset="-120"/>
              </a:rPr>
              <a:t>01</a:t>
            </a:r>
            <a:endParaRPr lang="en-US" sz="1000" dirty="0"/>
          </a:p>
        </p:txBody>
      </p:sp>
      <p:sp>
        <p:nvSpPr>
          <p:cNvPr id="5" name="Shape 2"/>
          <p:cNvSpPr/>
          <p:nvPr/>
        </p:nvSpPr>
        <p:spPr>
          <a:xfrm>
            <a:off x="496119" y="1647155"/>
            <a:ext cx="2299097" cy="14288"/>
          </a:xfrm>
          <a:prstGeom prst="rect">
            <a:avLst/>
          </a:prstGeom>
          <a:solidFill>
            <a:srgbClr val="FF7047"/>
          </a:solidFill>
          <a:ln/>
        </p:spPr>
      </p:sp>
      <p:sp>
        <p:nvSpPr>
          <p:cNvPr id="6" name="Text 3"/>
          <p:cNvSpPr/>
          <p:nvPr/>
        </p:nvSpPr>
        <p:spPr>
          <a:xfrm>
            <a:off x="496119" y="1742182"/>
            <a:ext cx="2299097" cy="207690"/>
          </a:xfrm>
          <a:prstGeom prst="rect">
            <a:avLst/>
          </a:prstGeom>
          <a:noFill/>
          <a:ln/>
        </p:spPr>
        <p:txBody>
          <a:bodyPr wrap="none" lIns="0" tIns="0" rIns="0" bIns="0" rtlCol="0" anchor="t"/>
          <a:lstStyle/>
          <a:p>
            <a:pPr marL="0" indent="0" algn="l">
              <a:lnSpc>
                <a:spcPct val="104000"/>
              </a:lnSpc>
              <a:buNone/>
            </a:pPr>
            <a:r>
              <a:rPr lang="en-US" sz="1300" dirty="0">
                <a:solidFill>
                  <a:srgbClr val="55575A"/>
                </a:solidFill>
                <a:latin typeface="Inter" pitchFamily="34" charset="0"/>
                <a:ea typeface="Inter" pitchFamily="34" charset="-122"/>
                <a:cs typeface="Inter" pitchFamily="34" charset="-120"/>
              </a:rPr>
              <a:t>Preventative</a:t>
            </a:r>
            <a:endParaRPr lang="en-US" sz="1300" dirty="0"/>
          </a:p>
        </p:txBody>
      </p:sp>
      <p:sp>
        <p:nvSpPr>
          <p:cNvPr id="7" name="Text 4"/>
          <p:cNvSpPr/>
          <p:nvPr/>
        </p:nvSpPr>
        <p:spPr>
          <a:xfrm>
            <a:off x="496119" y="2024583"/>
            <a:ext cx="2299097" cy="823913"/>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Firewalls, strong authentication, encryption, patching, supply-chain controls — reduce attack surface and protect Confidentiality &amp; Integrity.</a:t>
            </a:r>
            <a:endParaRPr lang="en-US" sz="1000" dirty="0"/>
          </a:p>
        </p:txBody>
      </p:sp>
      <p:sp>
        <p:nvSpPr>
          <p:cNvPr id="8" name="Text 5"/>
          <p:cNvSpPr/>
          <p:nvPr/>
        </p:nvSpPr>
        <p:spPr>
          <a:xfrm>
            <a:off x="2919785" y="1435596"/>
            <a:ext cx="265807" cy="166092"/>
          </a:xfrm>
          <a:prstGeom prst="rect">
            <a:avLst/>
          </a:prstGeom>
          <a:noFill/>
          <a:ln/>
        </p:spPr>
        <p:txBody>
          <a:bodyPr wrap="none" lIns="0" tIns="0" rIns="0" bIns="0" rtlCol="0" anchor="ctr"/>
          <a:lstStyle/>
          <a:p>
            <a:pPr marL="0" indent="0" algn="l">
              <a:lnSpc>
                <a:spcPct val="100000"/>
              </a:lnSpc>
              <a:buNone/>
            </a:pPr>
            <a:r>
              <a:rPr lang="en-US" sz="1000" dirty="0">
                <a:solidFill>
                  <a:srgbClr val="55575A"/>
                </a:solidFill>
                <a:latin typeface="Inter Light" pitchFamily="34" charset="0"/>
                <a:ea typeface="Inter Light" pitchFamily="34" charset="-122"/>
                <a:cs typeface="Inter Light" pitchFamily="34" charset="-120"/>
              </a:rPr>
              <a:t>02</a:t>
            </a:r>
            <a:endParaRPr lang="en-US" sz="1000" dirty="0"/>
          </a:p>
        </p:txBody>
      </p:sp>
      <p:sp>
        <p:nvSpPr>
          <p:cNvPr id="9" name="Shape 6"/>
          <p:cNvSpPr/>
          <p:nvPr/>
        </p:nvSpPr>
        <p:spPr>
          <a:xfrm>
            <a:off x="2919785" y="1647155"/>
            <a:ext cx="2299097" cy="14288"/>
          </a:xfrm>
          <a:prstGeom prst="rect">
            <a:avLst/>
          </a:prstGeom>
          <a:solidFill>
            <a:srgbClr val="FF7047"/>
          </a:solidFill>
          <a:ln/>
        </p:spPr>
      </p:sp>
      <p:sp>
        <p:nvSpPr>
          <p:cNvPr id="10" name="Text 7"/>
          <p:cNvSpPr/>
          <p:nvPr/>
        </p:nvSpPr>
        <p:spPr>
          <a:xfrm>
            <a:off x="2919785" y="1742182"/>
            <a:ext cx="2299097" cy="207690"/>
          </a:xfrm>
          <a:prstGeom prst="rect">
            <a:avLst/>
          </a:prstGeom>
          <a:noFill/>
          <a:ln/>
        </p:spPr>
        <p:txBody>
          <a:bodyPr wrap="none" lIns="0" tIns="0" rIns="0" bIns="0" rtlCol="0" anchor="t"/>
          <a:lstStyle/>
          <a:p>
            <a:pPr marL="0" indent="0" algn="l">
              <a:lnSpc>
                <a:spcPct val="104000"/>
              </a:lnSpc>
              <a:buNone/>
            </a:pPr>
            <a:r>
              <a:rPr lang="en-US" sz="1300" dirty="0">
                <a:solidFill>
                  <a:srgbClr val="55575A"/>
                </a:solidFill>
                <a:latin typeface="Inter" pitchFamily="34" charset="0"/>
                <a:ea typeface="Inter" pitchFamily="34" charset="-122"/>
                <a:cs typeface="Inter" pitchFamily="34" charset="-120"/>
              </a:rPr>
              <a:t>Detective</a:t>
            </a:r>
            <a:endParaRPr lang="en-US" sz="1300" dirty="0"/>
          </a:p>
        </p:txBody>
      </p:sp>
      <p:sp>
        <p:nvSpPr>
          <p:cNvPr id="11" name="Text 8"/>
          <p:cNvSpPr/>
          <p:nvPr/>
        </p:nvSpPr>
        <p:spPr>
          <a:xfrm>
            <a:off x="2919785" y="2024583"/>
            <a:ext cx="2299097" cy="617934"/>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SIEM, EDR, network telemetry, and anomaly detection to spot attacks early and preserve Availability.</a:t>
            </a:r>
            <a:endParaRPr lang="en-US" sz="1000" dirty="0"/>
          </a:p>
        </p:txBody>
      </p:sp>
      <p:sp>
        <p:nvSpPr>
          <p:cNvPr id="12" name="Text 9"/>
          <p:cNvSpPr/>
          <p:nvPr/>
        </p:nvSpPr>
        <p:spPr>
          <a:xfrm>
            <a:off x="496119" y="3072705"/>
            <a:ext cx="265807" cy="166092"/>
          </a:xfrm>
          <a:prstGeom prst="rect">
            <a:avLst/>
          </a:prstGeom>
          <a:noFill/>
          <a:ln/>
        </p:spPr>
        <p:txBody>
          <a:bodyPr wrap="none" lIns="0" tIns="0" rIns="0" bIns="0" rtlCol="0" anchor="ctr"/>
          <a:lstStyle/>
          <a:p>
            <a:pPr marL="0" indent="0" algn="l">
              <a:lnSpc>
                <a:spcPct val="100000"/>
              </a:lnSpc>
              <a:buNone/>
            </a:pPr>
            <a:r>
              <a:rPr lang="en-US" sz="1000" dirty="0">
                <a:solidFill>
                  <a:srgbClr val="55575A"/>
                </a:solidFill>
                <a:latin typeface="Inter Light" pitchFamily="34" charset="0"/>
                <a:ea typeface="Inter Light" pitchFamily="34" charset="-122"/>
                <a:cs typeface="Inter Light" pitchFamily="34" charset="-120"/>
              </a:rPr>
              <a:t>03</a:t>
            </a:r>
            <a:endParaRPr lang="en-US" sz="1000" dirty="0"/>
          </a:p>
        </p:txBody>
      </p:sp>
      <p:sp>
        <p:nvSpPr>
          <p:cNvPr id="13" name="Shape 10"/>
          <p:cNvSpPr/>
          <p:nvPr/>
        </p:nvSpPr>
        <p:spPr>
          <a:xfrm>
            <a:off x="496119" y="3284265"/>
            <a:ext cx="4722763" cy="14288"/>
          </a:xfrm>
          <a:prstGeom prst="rect">
            <a:avLst/>
          </a:prstGeom>
          <a:solidFill>
            <a:srgbClr val="FF7047"/>
          </a:solidFill>
          <a:ln/>
        </p:spPr>
      </p:sp>
      <p:sp>
        <p:nvSpPr>
          <p:cNvPr id="14" name="Text 11"/>
          <p:cNvSpPr/>
          <p:nvPr/>
        </p:nvSpPr>
        <p:spPr>
          <a:xfrm>
            <a:off x="496119" y="3379291"/>
            <a:ext cx="4722763" cy="207690"/>
          </a:xfrm>
          <a:prstGeom prst="rect">
            <a:avLst/>
          </a:prstGeom>
          <a:noFill/>
          <a:ln/>
        </p:spPr>
        <p:txBody>
          <a:bodyPr wrap="none" lIns="0" tIns="0" rIns="0" bIns="0" rtlCol="0" anchor="t"/>
          <a:lstStyle/>
          <a:p>
            <a:pPr marL="0" indent="0" algn="l">
              <a:lnSpc>
                <a:spcPct val="104000"/>
              </a:lnSpc>
              <a:buNone/>
            </a:pPr>
            <a:r>
              <a:rPr lang="en-US" sz="1300" dirty="0">
                <a:solidFill>
                  <a:srgbClr val="55575A"/>
                </a:solidFill>
                <a:latin typeface="Inter" pitchFamily="34" charset="0"/>
                <a:ea typeface="Inter" pitchFamily="34" charset="-122"/>
                <a:cs typeface="Inter" pitchFamily="34" charset="-120"/>
              </a:rPr>
              <a:t>Corrective</a:t>
            </a:r>
            <a:endParaRPr lang="en-US" sz="1300" dirty="0"/>
          </a:p>
        </p:txBody>
      </p:sp>
      <p:sp>
        <p:nvSpPr>
          <p:cNvPr id="15" name="Text 12"/>
          <p:cNvSpPr/>
          <p:nvPr/>
        </p:nvSpPr>
        <p:spPr>
          <a:xfrm>
            <a:off x="496119" y="3661693"/>
            <a:ext cx="4722763"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Incident response plans, backups, forensics, and crisis communication — restore systems and trust after breaches.</a:t>
            </a:r>
            <a:endParaRPr lang="en-US" sz="1000" dirty="0"/>
          </a:p>
        </p:txBody>
      </p:sp>
      <p:sp>
        <p:nvSpPr>
          <p:cNvPr id="16" name="Text 13"/>
          <p:cNvSpPr/>
          <p:nvPr/>
        </p:nvSpPr>
        <p:spPr>
          <a:xfrm>
            <a:off x="496119" y="4313411"/>
            <a:ext cx="4722763"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Combine technical controls with training, policy, and regular tabletop exercises to close human and process gaps.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587722"/>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0C0D0F"/>
                </a:solidFill>
                <a:latin typeface="Inter" pitchFamily="34" charset="0"/>
                <a:ea typeface="Inter" pitchFamily="34" charset="-122"/>
                <a:cs typeface="Inter" pitchFamily="34" charset="-120"/>
              </a:rPr>
              <a:t>Conclusion: Security Is Ongoing</a:t>
            </a:r>
            <a:endParaRPr lang="en-US" sz="2750" dirty="0"/>
          </a:p>
        </p:txBody>
      </p:sp>
      <p:sp>
        <p:nvSpPr>
          <p:cNvPr id="4" name="Text 1"/>
          <p:cNvSpPr/>
          <p:nvPr/>
        </p:nvSpPr>
        <p:spPr>
          <a:xfrm>
            <a:off x="3925119" y="1686297"/>
            <a:ext cx="4722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Security is not a one-time task. It needs attention all the time to help protect people, data, and systems.</a:t>
            </a:r>
            <a:endParaRPr lang="en-US" sz="1100" dirty="0"/>
          </a:p>
        </p:txBody>
      </p:sp>
      <p:sp>
        <p:nvSpPr>
          <p:cNvPr id="5" name="Shape 2"/>
          <p:cNvSpPr/>
          <p:nvPr/>
        </p:nvSpPr>
        <p:spPr>
          <a:xfrm>
            <a:off x="3925119" y="2299395"/>
            <a:ext cx="4722763" cy="1643211"/>
          </a:xfrm>
          <a:prstGeom prst="roundRect">
            <a:avLst>
              <a:gd name="adj" fmla="val 7765"/>
            </a:avLst>
          </a:prstGeom>
          <a:solidFill>
            <a:srgbClr val="FFFFFF"/>
          </a:solidFill>
          <a:ln w="4763">
            <a:solidFill>
              <a:srgbClr val="FF7047"/>
            </a:solidFill>
            <a:prstDash val="solid"/>
          </a:ln>
        </p:spPr>
      </p:sp>
      <p:sp>
        <p:nvSpPr>
          <p:cNvPr id="6" name="Shape 3"/>
          <p:cNvSpPr/>
          <p:nvPr/>
        </p:nvSpPr>
        <p:spPr>
          <a:xfrm>
            <a:off x="3929881" y="2304157"/>
            <a:ext cx="4713238" cy="816843"/>
          </a:xfrm>
          <a:prstGeom prst="rect">
            <a:avLst/>
          </a:prstGeom>
          <a:solidFill>
            <a:srgbClr val="FFFFFF"/>
          </a:solidFill>
          <a:ln/>
        </p:spPr>
      </p:sp>
      <p:sp>
        <p:nvSpPr>
          <p:cNvPr id="7" name="Text 4"/>
          <p:cNvSpPr/>
          <p:nvPr/>
        </p:nvSpPr>
        <p:spPr>
          <a:xfrm>
            <a:off x="4071640" y="2445916"/>
            <a:ext cx="4429720" cy="221456"/>
          </a:xfrm>
          <a:prstGeom prst="rect">
            <a:avLst/>
          </a:prstGeom>
          <a:noFill/>
          <a:ln/>
        </p:spPr>
        <p:txBody>
          <a:bodyPr wrap="none" lIns="0" tIns="0" rIns="0" bIns="0" rtlCol="0" anchor="t"/>
          <a:lstStyle/>
          <a:p>
            <a:pPr marL="0" indent="0" algn="l">
              <a:lnSpc>
                <a:spcPct val="104000"/>
              </a:lnSpc>
              <a:buNone/>
            </a:pPr>
            <a:r>
              <a:rPr lang="en-US" sz="1350" dirty="0">
                <a:solidFill>
                  <a:srgbClr val="55575A"/>
                </a:solidFill>
                <a:latin typeface="Inter" pitchFamily="34" charset="0"/>
                <a:ea typeface="Inter" pitchFamily="34" charset="-122"/>
                <a:cs typeface="Inter" pitchFamily="34" charset="-120"/>
              </a:rPr>
              <a:t>Stay Alert</a:t>
            </a:r>
            <a:endParaRPr lang="en-US" sz="1350" dirty="0"/>
          </a:p>
        </p:txBody>
      </p:sp>
      <p:sp>
        <p:nvSpPr>
          <p:cNvPr id="8" name="Text 5"/>
          <p:cNvSpPr/>
          <p:nvPr/>
        </p:nvSpPr>
        <p:spPr>
          <a:xfrm>
            <a:off x="4071640" y="2752427"/>
            <a:ext cx="4429720" cy="226814"/>
          </a:xfrm>
          <a:prstGeom prst="rect">
            <a:avLst/>
          </a:prstGeom>
          <a:noFill/>
          <a:ln/>
        </p:spPr>
        <p:txBody>
          <a:bodyPr wrap="none" lIns="0" tIns="0" rIns="0" bIns="0" rtlCol="0" anchor="t"/>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Watch for new risks and changes.</a:t>
            </a:r>
            <a:endParaRPr lang="en-US" sz="1100" dirty="0"/>
          </a:p>
        </p:txBody>
      </p:sp>
      <p:sp>
        <p:nvSpPr>
          <p:cNvPr id="9" name="Shape 6"/>
          <p:cNvSpPr/>
          <p:nvPr/>
        </p:nvSpPr>
        <p:spPr>
          <a:xfrm>
            <a:off x="3929881" y="3121000"/>
            <a:ext cx="4713238" cy="816843"/>
          </a:xfrm>
          <a:prstGeom prst="rect">
            <a:avLst/>
          </a:prstGeom>
          <a:solidFill>
            <a:srgbClr val="FFFFFF"/>
          </a:solidFill>
          <a:ln/>
        </p:spPr>
      </p:sp>
      <p:sp>
        <p:nvSpPr>
          <p:cNvPr id="10" name="Shape 7"/>
          <p:cNvSpPr/>
          <p:nvPr/>
        </p:nvSpPr>
        <p:spPr>
          <a:xfrm>
            <a:off x="3929881" y="3121000"/>
            <a:ext cx="4713238" cy="19050"/>
          </a:xfrm>
          <a:prstGeom prst="roundRect">
            <a:avLst>
              <a:gd name="adj" fmla="val 669768"/>
            </a:avLst>
          </a:prstGeom>
          <a:solidFill>
            <a:srgbClr val="E5562D"/>
          </a:solidFill>
          <a:ln/>
        </p:spPr>
      </p:sp>
      <p:sp>
        <p:nvSpPr>
          <p:cNvPr id="11" name="Text 8"/>
          <p:cNvSpPr/>
          <p:nvPr/>
        </p:nvSpPr>
        <p:spPr>
          <a:xfrm>
            <a:off x="4071640" y="3262759"/>
            <a:ext cx="4429720" cy="221456"/>
          </a:xfrm>
          <a:prstGeom prst="rect">
            <a:avLst/>
          </a:prstGeom>
          <a:noFill/>
          <a:ln/>
        </p:spPr>
        <p:txBody>
          <a:bodyPr wrap="none" lIns="0" tIns="0" rIns="0" bIns="0" rtlCol="0" anchor="t"/>
          <a:lstStyle/>
          <a:p>
            <a:pPr marL="0" indent="0" algn="l">
              <a:lnSpc>
                <a:spcPct val="104000"/>
              </a:lnSpc>
              <a:buNone/>
            </a:pPr>
            <a:r>
              <a:rPr lang="en-US" sz="1350" dirty="0">
                <a:solidFill>
                  <a:srgbClr val="55575A"/>
                </a:solidFill>
                <a:latin typeface="Inter" pitchFamily="34" charset="0"/>
                <a:ea typeface="Inter" pitchFamily="34" charset="-122"/>
                <a:cs typeface="Inter" pitchFamily="34" charset="-120"/>
              </a:rPr>
              <a:t>Keep Improving</a:t>
            </a:r>
            <a:endParaRPr lang="en-US" sz="1350" dirty="0"/>
          </a:p>
        </p:txBody>
      </p:sp>
      <p:sp>
        <p:nvSpPr>
          <p:cNvPr id="12" name="Text 9"/>
          <p:cNvSpPr/>
          <p:nvPr/>
        </p:nvSpPr>
        <p:spPr>
          <a:xfrm>
            <a:off x="4071640" y="3569271"/>
            <a:ext cx="4429720" cy="226814"/>
          </a:xfrm>
          <a:prstGeom prst="rect">
            <a:avLst/>
          </a:prstGeom>
          <a:noFill/>
          <a:ln/>
        </p:spPr>
        <p:txBody>
          <a:bodyPr wrap="none" lIns="0" tIns="0" rIns="0" bIns="0" rtlCol="0" anchor="t"/>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Update security steps regularly.</a:t>
            </a:r>
            <a:endParaRPr lang="en-US" sz="1100" dirty="0"/>
          </a:p>
        </p:txBody>
      </p:sp>
      <p:sp>
        <p:nvSpPr>
          <p:cNvPr id="13" name="Text 10"/>
          <p:cNvSpPr/>
          <p:nvPr/>
        </p:nvSpPr>
        <p:spPr>
          <a:xfrm>
            <a:off x="3925119" y="4102075"/>
            <a:ext cx="4722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Simple habits, clear plans, and steady follow-through make security stronger.</a:t>
            </a:r>
            <a:endParaRPr lang="en-US" sz="1100" dirty="0"/>
          </a:p>
        </p:txBody>
      </p:sp>
      <p:graphicFrame>
        <p:nvGraphicFramePr>
          <p:cNvPr id="15" name="Table 14">
            <a:extLst>
              <a:ext uri="{FF2B5EF4-FFF2-40B4-BE49-F238E27FC236}">
                <a16:creationId xmlns:a16="http://schemas.microsoft.com/office/drawing/2014/main" id="{1D130F7A-F93E-91ED-4786-EB8A50C1DDC9}"/>
              </a:ext>
            </a:extLst>
          </p:cNvPr>
          <p:cNvGraphicFramePr>
            <a:graphicFrameLocks noGrp="1"/>
          </p:cNvGraphicFramePr>
          <p:nvPr>
            <p:extLst>
              <p:ext uri="{D42A27DB-BD31-4B8C-83A1-F6EECF244321}">
                <p14:modId xmlns:p14="http://schemas.microsoft.com/office/powerpoint/2010/main" val="617271704"/>
              </p:ext>
            </p:extLst>
          </p:nvPr>
        </p:nvGraphicFramePr>
        <p:xfrm>
          <a:off x="7432431" y="4696753"/>
          <a:ext cx="1711569" cy="370840"/>
        </p:xfrm>
        <a:graphic>
          <a:graphicData uri="http://schemas.openxmlformats.org/drawingml/2006/table">
            <a:tbl>
              <a:tblPr firstRow="1" bandRow="1">
                <a:tableStyleId>{5C22544A-7EE6-4342-B048-85BDC9FD1C3A}</a:tableStyleId>
              </a:tblPr>
              <a:tblGrid>
                <a:gridCol w="1711569">
                  <a:extLst>
                    <a:ext uri="{9D8B030D-6E8A-4147-A177-3AD203B41FA5}">
                      <a16:colId xmlns:a16="http://schemas.microsoft.com/office/drawing/2014/main" val="3465553164"/>
                    </a:ext>
                  </a:extLst>
                </a:gridCol>
              </a:tblGrid>
              <a:tr h="370840">
                <a:tc>
                  <a:txBody>
                    <a:bodyPr/>
                    <a:lstStyle/>
                    <a:p>
                      <a:endParaRPr lang="en-IN" dirty="0"/>
                    </a:p>
                  </a:txBody>
                  <a:tcPr>
                    <a:solidFill>
                      <a:schemeClr val="bg1"/>
                    </a:solidFill>
                  </a:tcPr>
                </a:tc>
                <a:extLst>
                  <a:ext uri="{0D108BD9-81ED-4DB2-BD59-A6C34878D82A}">
                    <a16:rowId xmlns:a16="http://schemas.microsoft.com/office/drawing/2014/main" val="2539639280"/>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707</Words>
  <Application>Microsoft Office PowerPoint</Application>
  <PresentationFormat>On-screen Show (16:9)</PresentationFormat>
  <Paragraphs>73</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reddy prakash</cp:lastModifiedBy>
  <cp:revision>2</cp:revision>
  <dcterms:created xsi:type="dcterms:W3CDTF">2026-07-15T04:51:07Z</dcterms:created>
  <dcterms:modified xsi:type="dcterms:W3CDTF">2026-07-15T05:22:51Z</dcterms:modified>
</cp:coreProperties>
</file>